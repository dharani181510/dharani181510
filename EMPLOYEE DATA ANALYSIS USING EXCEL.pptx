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61" r:id="rId4"/>
    <p:sldId id="271" r:id="rId5"/>
    <p:sldId id="272" r:id="rId6"/>
    <p:sldId id="273" r:id="rId7"/>
    <p:sldId id="274" r:id="rId8"/>
    <p:sldId id="275" r:id="rId9"/>
    <p:sldId id="276" r:id="rId10"/>
    <p:sldId id="277" r:id="rId11"/>
    <p:sldId id="278" r:id="rId12"/>
    <p:sldId id="27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P.T.LEE%20CNASC\Downloads\excel%20dharani.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P.T.LEE%20CNASC\Downloads\excel%20dharani.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layout/>
    </c:title>
    <c:view3D>
      <c:rotX val="30"/>
      <c:perspective val="30"/>
    </c:view3D>
    <c:plotArea>
      <c:layout/>
      <c:pie3DChart>
        <c:varyColors val="1"/>
        <c:ser>
          <c:idx val="0"/>
          <c:order val="0"/>
          <c:tx>
            <c:strRef>
              <c:f>Sheet1!$D$2:$D$4</c:f>
              <c:strCache>
                <c:ptCount val="1"/>
                <c:pt idx="0">
                  <c:v>Attrition Calculation Opening  Count</c:v>
                </c:pt>
              </c:strCache>
            </c:strRef>
          </c:tx>
          <c:cat>
            <c:multiLvlStrRef>
              <c:f>Sheet1!$B$5:$C$16</c:f>
              <c:multiLvlStrCache>
                <c:ptCount val="12"/>
                <c:lvl>
                  <c:pt idx="0">
                    <c:v>Jan-21</c:v>
                  </c:pt>
                  <c:pt idx="1">
                    <c:v>Feb-21</c:v>
                  </c:pt>
                  <c:pt idx="2">
                    <c:v>Mar-21</c:v>
                  </c:pt>
                  <c:pt idx="3">
                    <c:v>Apr-21</c:v>
                  </c:pt>
                  <c:pt idx="4">
                    <c:v>May-21</c:v>
                  </c:pt>
                  <c:pt idx="5">
                    <c:v>Jun-21</c:v>
                  </c:pt>
                  <c:pt idx="6">
                    <c:v>Jul-21</c:v>
                  </c:pt>
                  <c:pt idx="7">
                    <c:v>Aug-21</c:v>
                  </c:pt>
                  <c:pt idx="8">
                    <c:v>Sep-21</c:v>
                  </c:pt>
                  <c:pt idx="9">
                    <c:v>Oct-21</c:v>
                  </c:pt>
                  <c:pt idx="10">
                    <c:v>Nov-21</c:v>
                  </c:pt>
                  <c:pt idx="11">
                    <c:v>Dec-21</c:v>
                  </c:pt>
                </c:lvl>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Sheet1!$D$5:$D$16</c:f>
              <c:numCache>
                <c:formatCode>General</c:formatCode>
                <c:ptCount val="12"/>
                <c:pt idx="0">
                  <c:v>150</c:v>
                </c:pt>
                <c:pt idx="1">
                  <c:v>170</c:v>
                </c:pt>
                <c:pt idx="2">
                  <c:v>181</c:v>
                </c:pt>
                <c:pt idx="3">
                  <c:v>183</c:v>
                </c:pt>
                <c:pt idx="4">
                  <c:v>190</c:v>
                </c:pt>
                <c:pt idx="5">
                  <c:v>197</c:v>
                </c:pt>
                <c:pt idx="6">
                  <c:v>214</c:v>
                </c:pt>
                <c:pt idx="7">
                  <c:v>221</c:v>
                </c:pt>
                <c:pt idx="8">
                  <c:v>235</c:v>
                </c:pt>
                <c:pt idx="9">
                  <c:v>234</c:v>
                </c:pt>
                <c:pt idx="10">
                  <c:v>249</c:v>
                </c:pt>
                <c:pt idx="11">
                  <c:v>257</c:v>
                </c:pt>
              </c:numCache>
            </c:numRef>
          </c:val>
        </c:ser>
        <c:ser>
          <c:idx val="1"/>
          <c:order val="1"/>
          <c:tx>
            <c:strRef>
              <c:f>Sheet1!$E$2:$E$4</c:f>
              <c:strCache>
                <c:ptCount val="1"/>
                <c:pt idx="0">
                  <c:v>Attrition Calculation New Joiners</c:v>
                </c:pt>
              </c:strCache>
            </c:strRef>
          </c:tx>
          <c:cat>
            <c:multiLvlStrRef>
              <c:f>Sheet1!$B$5:$C$16</c:f>
              <c:multiLvlStrCache>
                <c:ptCount val="12"/>
                <c:lvl>
                  <c:pt idx="0">
                    <c:v>Jan-21</c:v>
                  </c:pt>
                  <c:pt idx="1">
                    <c:v>Feb-21</c:v>
                  </c:pt>
                  <c:pt idx="2">
                    <c:v>Mar-21</c:v>
                  </c:pt>
                  <c:pt idx="3">
                    <c:v>Apr-21</c:v>
                  </c:pt>
                  <c:pt idx="4">
                    <c:v>May-21</c:v>
                  </c:pt>
                  <c:pt idx="5">
                    <c:v>Jun-21</c:v>
                  </c:pt>
                  <c:pt idx="6">
                    <c:v>Jul-21</c:v>
                  </c:pt>
                  <c:pt idx="7">
                    <c:v>Aug-21</c:v>
                  </c:pt>
                  <c:pt idx="8">
                    <c:v>Sep-21</c:v>
                  </c:pt>
                  <c:pt idx="9">
                    <c:v>Oct-21</c:v>
                  </c:pt>
                  <c:pt idx="10">
                    <c:v>Nov-21</c:v>
                  </c:pt>
                  <c:pt idx="11">
                    <c:v>Dec-21</c:v>
                  </c:pt>
                </c:lvl>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Sheet1!$E$5:$E$16</c:f>
              <c:numCache>
                <c:formatCode>General</c:formatCode>
                <c:ptCount val="12"/>
                <c:pt idx="0">
                  <c:v>30</c:v>
                </c:pt>
                <c:pt idx="1">
                  <c:v>15</c:v>
                </c:pt>
                <c:pt idx="2">
                  <c:v>7</c:v>
                </c:pt>
                <c:pt idx="3">
                  <c:v>19</c:v>
                </c:pt>
                <c:pt idx="4">
                  <c:v>17</c:v>
                </c:pt>
                <c:pt idx="5">
                  <c:v>19</c:v>
                </c:pt>
                <c:pt idx="6">
                  <c:v>15</c:v>
                </c:pt>
                <c:pt idx="7">
                  <c:v>15</c:v>
                </c:pt>
                <c:pt idx="8">
                  <c:v>12</c:v>
                </c:pt>
                <c:pt idx="9">
                  <c:v>17</c:v>
                </c:pt>
                <c:pt idx="10">
                  <c:v>20</c:v>
                </c:pt>
                <c:pt idx="11">
                  <c:v>16</c:v>
                </c:pt>
              </c:numCache>
            </c:numRef>
          </c:val>
        </c:ser>
        <c:ser>
          <c:idx val="2"/>
          <c:order val="2"/>
          <c:tx>
            <c:strRef>
              <c:f>Sheet1!$F$2:$F$4</c:f>
              <c:strCache>
                <c:ptCount val="1"/>
                <c:pt idx="0">
                  <c:v>Attrition Calculation Exit Emp</c:v>
                </c:pt>
              </c:strCache>
            </c:strRef>
          </c:tx>
          <c:cat>
            <c:multiLvlStrRef>
              <c:f>Sheet1!$B$5:$C$16</c:f>
              <c:multiLvlStrCache>
                <c:ptCount val="12"/>
                <c:lvl>
                  <c:pt idx="0">
                    <c:v>Jan-21</c:v>
                  </c:pt>
                  <c:pt idx="1">
                    <c:v>Feb-21</c:v>
                  </c:pt>
                  <c:pt idx="2">
                    <c:v>Mar-21</c:v>
                  </c:pt>
                  <c:pt idx="3">
                    <c:v>Apr-21</c:v>
                  </c:pt>
                  <c:pt idx="4">
                    <c:v>May-21</c:v>
                  </c:pt>
                  <c:pt idx="5">
                    <c:v>Jun-21</c:v>
                  </c:pt>
                  <c:pt idx="6">
                    <c:v>Jul-21</c:v>
                  </c:pt>
                  <c:pt idx="7">
                    <c:v>Aug-21</c:v>
                  </c:pt>
                  <c:pt idx="8">
                    <c:v>Sep-21</c:v>
                  </c:pt>
                  <c:pt idx="9">
                    <c:v>Oct-21</c:v>
                  </c:pt>
                  <c:pt idx="10">
                    <c:v>Nov-21</c:v>
                  </c:pt>
                  <c:pt idx="11">
                    <c:v>Dec-21</c:v>
                  </c:pt>
                </c:lvl>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Sheet1!$F$5:$F$16</c:f>
              <c:numCache>
                <c:formatCode>General</c:formatCode>
                <c:ptCount val="12"/>
                <c:pt idx="0">
                  <c:v>10</c:v>
                </c:pt>
                <c:pt idx="1">
                  <c:v>4</c:v>
                </c:pt>
                <c:pt idx="2">
                  <c:v>5</c:v>
                </c:pt>
                <c:pt idx="3">
                  <c:v>12</c:v>
                </c:pt>
                <c:pt idx="4">
                  <c:v>10</c:v>
                </c:pt>
                <c:pt idx="5">
                  <c:v>2</c:v>
                </c:pt>
                <c:pt idx="6">
                  <c:v>8</c:v>
                </c:pt>
                <c:pt idx="7">
                  <c:v>1</c:v>
                </c:pt>
                <c:pt idx="8">
                  <c:v>13</c:v>
                </c:pt>
                <c:pt idx="9">
                  <c:v>2</c:v>
                </c:pt>
                <c:pt idx="10">
                  <c:v>12</c:v>
                </c:pt>
                <c:pt idx="11">
                  <c:v>13</c:v>
                </c:pt>
              </c:numCache>
            </c:numRef>
          </c:val>
        </c:ser>
        <c:ser>
          <c:idx val="3"/>
          <c:order val="3"/>
          <c:tx>
            <c:strRef>
              <c:f>Sheet1!$G$2:$G$4</c:f>
              <c:strCache>
                <c:ptCount val="1"/>
                <c:pt idx="0">
                  <c:v>Attrition Calculation Balance</c:v>
                </c:pt>
              </c:strCache>
            </c:strRef>
          </c:tx>
          <c:cat>
            <c:multiLvlStrRef>
              <c:f>Sheet1!$B$5:$C$16</c:f>
              <c:multiLvlStrCache>
                <c:ptCount val="12"/>
                <c:lvl>
                  <c:pt idx="0">
                    <c:v>Jan-21</c:v>
                  </c:pt>
                  <c:pt idx="1">
                    <c:v>Feb-21</c:v>
                  </c:pt>
                  <c:pt idx="2">
                    <c:v>Mar-21</c:v>
                  </c:pt>
                  <c:pt idx="3">
                    <c:v>Apr-21</c:v>
                  </c:pt>
                  <c:pt idx="4">
                    <c:v>May-21</c:v>
                  </c:pt>
                  <c:pt idx="5">
                    <c:v>Jun-21</c:v>
                  </c:pt>
                  <c:pt idx="6">
                    <c:v>Jul-21</c:v>
                  </c:pt>
                  <c:pt idx="7">
                    <c:v>Aug-21</c:v>
                  </c:pt>
                  <c:pt idx="8">
                    <c:v>Sep-21</c:v>
                  </c:pt>
                  <c:pt idx="9">
                    <c:v>Oct-21</c:v>
                  </c:pt>
                  <c:pt idx="10">
                    <c:v>Nov-21</c:v>
                  </c:pt>
                  <c:pt idx="11">
                    <c:v>Dec-21</c:v>
                  </c:pt>
                </c:lvl>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Sheet1!$G$5:$G$16</c:f>
              <c:numCache>
                <c:formatCode>General</c:formatCode>
                <c:ptCount val="12"/>
                <c:pt idx="0">
                  <c:v>170</c:v>
                </c:pt>
                <c:pt idx="1">
                  <c:v>181</c:v>
                </c:pt>
                <c:pt idx="2">
                  <c:v>183</c:v>
                </c:pt>
                <c:pt idx="3">
                  <c:v>190</c:v>
                </c:pt>
                <c:pt idx="4">
                  <c:v>197</c:v>
                </c:pt>
                <c:pt idx="5">
                  <c:v>214</c:v>
                </c:pt>
                <c:pt idx="6">
                  <c:v>221</c:v>
                </c:pt>
                <c:pt idx="7">
                  <c:v>235</c:v>
                </c:pt>
                <c:pt idx="8">
                  <c:v>234</c:v>
                </c:pt>
                <c:pt idx="9">
                  <c:v>249</c:v>
                </c:pt>
                <c:pt idx="10">
                  <c:v>257</c:v>
                </c:pt>
                <c:pt idx="11">
                  <c:v>260</c:v>
                </c:pt>
              </c:numCache>
            </c:numRef>
          </c:val>
        </c:ser>
        <c:ser>
          <c:idx val="4"/>
          <c:order val="4"/>
          <c:tx>
            <c:strRef>
              <c:f>Sheet1!$H$2:$H$4</c:f>
              <c:strCache>
                <c:ptCount val="1"/>
                <c:pt idx="0">
                  <c:v>Attrition Calculation Avg.no.of emp</c:v>
                </c:pt>
              </c:strCache>
            </c:strRef>
          </c:tx>
          <c:cat>
            <c:multiLvlStrRef>
              <c:f>Sheet1!$B$5:$C$16</c:f>
              <c:multiLvlStrCache>
                <c:ptCount val="12"/>
                <c:lvl>
                  <c:pt idx="0">
                    <c:v>Jan-21</c:v>
                  </c:pt>
                  <c:pt idx="1">
                    <c:v>Feb-21</c:v>
                  </c:pt>
                  <c:pt idx="2">
                    <c:v>Mar-21</c:v>
                  </c:pt>
                  <c:pt idx="3">
                    <c:v>Apr-21</c:v>
                  </c:pt>
                  <c:pt idx="4">
                    <c:v>May-21</c:v>
                  </c:pt>
                  <c:pt idx="5">
                    <c:v>Jun-21</c:v>
                  </c:pt>
                  <c:pt idx="6">
                    <c:v>Jul-21</c:v>
                  </c:pt>
                  <c:pt idx="7">
                    <c:v>Aug-21</c:v>
                  </c:pt>
                  <c:pt idx="8">
                    <c:v>Sep-21</c:v>
                  </c:pt>
                  <c:pt idx="9">
                    <c:v>Oct-21</c:v>
                  </c:pt>
                  <c:pt idx="10">
                    <c:v>Nov-21</c:v>
                  </c:pt>
                  <c:pt idx="11">
                    <c:v>Dec-21</c:v>
                  </c:pt>
                </c:lvl>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Sheet1!$H$5:$H$16</c:f>
              <c:numCache>
                <c:formatCode>General</c:formatCode>
                <c:ptCount val="12"/>
                <c:pt idx="0">
                  <c:v>160</c:v>
                </c:pt>
                <c:pt idx="1">
                  <c:v>175.5</c:v>
                </c:pt>
                <c:pt idx="2">
                  <c:v>182</c:v>
                </c:pt>
                <c:pt idx="3">
                  <c:v>186.5</c:v>
                </c:pt>
                <c:pt idx="4">
                  <c:v>193.5</c:v>
                </c:pt>
                <c:pt idx="5">
                  <c:v>205.5</c:v>
                </c:pt>
                <c:pt idx="6">
                  <c:v>217.5</c:v>
                </c:pt>
                <c:pt idx="7">
                  <c:v>228</c:v>
                </c:pt>
                <c:pt idx="8">
                  <c:v>234.5</c:v>
                </c:pt>
                <c:pt idx="9">
                  <c:v>241.5</c:v>
                </c:pt>
                <c:pt idx="10">
                  <c:v>253</c:v>
                </c:pt>
                <c:pt idx="11">
                  <c:v>258.5</c:v>
                </c:pt>
              </c:numCache>
            </c:numRef>
          </c:val>
        </c:ser>
        <c:ser>
          <c:idx val="5"/>
          <c:order val="5"/>
          <c:tx>
            <c:strRef>
              <c:f>Sheet1!$I$2:$I$4</c:f>
              <c:strCache>
                <c:ptCount val="1"/>
                <c:pt idx="0">
                  <c:v>Attrition Calculation Attrition %</c:v>
                </c:pt>
              </c:strCache>
            </c:strRef>
          </c:tx>
          <c:cat>
            <c:multiLvlStrRef>
              <c:f>Sheet1!$B$5:$C$16</c:f>
              <c:multiLvlStrCache>
                <c:ptCount val="12"/>
                <c:lvl>
                  <c:pt idx="0">
                    <c:v>Jan-21</c:v>
                  </c:pt>
                  <c:pt idx="1">
                    <c:v>Feb-21</c:v>
                  </c:pt>
                  <c:pt idx="2">
                    <c:v>Mar-21</c:v>
                  </c:pt>
                  <c:pt idx="3">
                    <c:v>Apr-21</c:v>
                  </c:pt>
                  <c:pt idx="4">
                    <c:v>May-21</c:v>
                  </c:pt>
                  <c:pt idx="5">
                    <c:v>Jun-21</c:v>
                  </c:pt>
                  <c:pt idx="6">
                    <c:v>Jul-21</c:v>
                  </c:pt>
                  <c:pt idx="7">
                    <c:v>Aug-21</c:v>
                  </c:pt>
                  <c:pt idx="8">
                    <c:v>Sep-21</c:v>
                  </c:pt>
                  <c:pt idx="9">
                    <c:v>Oct-21</c:v>
                  </c:pt>
                  <c:pt idx="10">
                    <c:v>Nov-21</c:v>
                  </c:pt>
                  <c:pt idx="11">
                    <c:v>Dec-21</c:v>
                  </c:pt>
                </c:lvl>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Sheet1!$I$5:$I$16</c:f>
              <c:numCache>
                <c:formatCode>0</c:formatCode>
                <c:ptCount val="12"/>
                <c:pt idx="0">
                  <c:v>6.25</c:v>
                </c:pt>
                <c:pt idx="1">
                  <c:v>2.2792022792022788</c:v>
                </c:pt>
                <c:pt idx="2">
                  <c:v>2.7472527472527486</c:v>
                </c:pt>
                <c:pt idx="3">
                  <c:v>6.4343163538873975</c:v>
                </c:pt>
                <c:pt idx="4">
                  <c:v>5.1679586563307449</c:v>
                </c:pt>
                <c:pt idx="5">
                  <c:v>0.97323600973235946</c:v>
                </c:pt>
                <c:pt idx="6">
                  <c:v>3.6781609195402289</c:v>
                </c:pt>
                <c:pt idx="7">
                  <c:v>0.43859649122807037</c:v>
                </c:pt>
                <c:pt idx="8">
                  <c:v>5.5437100213219619</c:v>
                </c:pt>
                <c:pt idx="9">
                  <c:v>0.82815734989648038</c:v>
                </c:pt>
                <c:pt idx="10">
                  <c:v>4.7430830039525702</c:v>
                </c:pt>
                <c:pt idx="11">
                  <c:v>5.029013539651837</c:v>
                </c:pt>
              </c:numCache>
            </c:numRef>
          </c:val>
        </c:ser>
      </c:pie3DChart>
    </c:plotArea>
    <c:legend>
      <c:legendPos val="r"/>
      <c:layout/>
    </c:legend>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layout/>
    </c:title>
    <c:plotArea>
      <c:layout/>
      <c:barChart>
        <c:barDir val="col"/>
        <c:grouping val="clustered"/>
        <c:ser>
          <c:idx val="0"/>
          <c:order val="0"/>
          <c:tx>
            <c:strRef>
              <c:f>Sheet1!$I$4</c:f>
              <c:strCache>
                <c:ptCount val="1"/>
                <c:pt idx="0">
                  <c:v>Attrition %</c:v>
                </c:pt>
              </c:strCache>
            </c:strRef>
          </c:tx>
          <c:val>
            <c:numRef>
              <c:f>Sheet1!$I$5:$I$16</c:f>
              <c:numCache>
                <c:formatCode>0</c:formatCode>
                <c:ptCount val="12"/>
                <c:pt idx="0">
                  <c:v>6.25</c:v>
                </c:pt>
                <c:pt idx="1">
                  <c:v>2.2792022792022788</c:v>
                </c:pt>
                <c:pt idx="2">
                  <c:v>2.7472527472527486</c:v>
                </c:pt>
                <c:pt idx="3">
                  <c:v>6.4343163538873975</c:v>
                </c:pt>
                <c:pt idx="4">
                  <c:v>5.1679586563307449</c:v>
                </c:pt>
                <c:pt idx="5">
                  <c:v>0.97323600973235969</c:v>
                </c:pt>
                <c:pt idx="6">
                  <c:v>3.6781609195402289</c:v>
                </c:pt>
                <c:pt idx="7">
                  <c:v>0.43859649122807037</c:v>
                </c:pt>
                <c:pt idx="8">
                  <c:v>5.5437100213219619</c:v>
                </c:pt>
                <c:pt idx="9">
                  <c:v>0.82815734989648038</c:v>
                </c:pt>
                <c:pt idx="10">
                  <c:v>4.7430830039525702</c:v>
                </c:pt>
                <c:pt idx="11">
                  <c:v>5.029013539651837</c:v>
                </c:pt>
              </c:numCache>
            </c:numRef>
          </c:val>
        </c:ser>
        <c:axId val="71914240"/>
        <c:axId val="71915776"/>
      </c:barChart>
      <c:catAx>
        <c:axId val="71914240"/>
        <c:scaling>
          <c:orientation val="minMax"/>
        </c:scaling>
        <c:axPos val="b"/>
        <c:tickLblPos val="nextTo"/>
        <c:crossAx val="71915776"/>
        <c:crosses val="autoZero"/>
        <c:auto val="1"/>
        <c:lblAlgn val="ctr"/>
        <c:lblOffset val="100"/>
      </c:catAx>
      <c:valAx>
        <c:axId val="71915776"/>
        <c:scaling>
          <c:orientation val="minMax"/>
        </c:scaling>
        <c:axPos val="l"/>
        <c:majorGridlines/>
        <c:numFmt formatCode="0" sourceLinked="1"/>
        <c:tickLblPos val="nextTo"/>
        <c:crossAx val="71914240"/>
        <c:crosses val="autoZero"/>
        <c:crossBetween val="between"/>
      </c:valAx>
    </c:plotArea>
    <c:legend>
      <c:legendPos val="r"/>
      <c:layout/>
    </c:legend>
    <c:plotVisOnly val="1"/>
  </c:chart>
  <c:externalData r:id="rId1"/>
</c:chartSpac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0CC3439C-FE7C-40FC-8E62-8FBC9176925B}" type="datetimeFigureOut">
              <a:rPr lang="en-US" smtClean="0"/>
              <a:pPr/>
              <a:t>8/30/2024</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43EBEA6E-BC54-45BA-A5B6-7CF3EFFE173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0CC3439C-FE7C-40FC-8E62-8FBC9176925B}" type="datetimeFigureOut">
              <a:rPr lang="en-US" smtClean="0"/>
              <a:pPr/>
              <a:t>8/30/2024</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43EBEA6E-BC54-45BA-A5B6-7CF3EFFE173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0CC3439C-FE7C-40FC-8E62-8FBC9176925B}" type="datetimeFigureOut">
              <a:rPr lang="en-US" smtClean="0"/>
              <a:pPr/>
              <a:t>8/30/2024</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3EBEA6E-BC54-45BA-A5B6-7CF3EFFE173D}"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CC3439C-FE7C-40FC-8E62-8FBC9176925B}" type="datetimeFigureOut">
              <a:rPr lang="en-US" smtClean="0"/>
              <a:pPr/>
              <a:t>8/30/2024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3EBEA6E-BC54-45BA-A5B6-7CF3EFFE173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0CC3439C-FE7C-40FC-8E62-8FBC9176925B}" type="datetimeFigureOut">
              <a:rPr lang="en-US" smtClean="0"/>
              <a:pPr/>
              <a:t>8/30/2024</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43EBEA6E-BC54-45BA-A5B6-7CF3EFFE173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0CC3439C-FE7C-40FC-8E62-8FBC9176925B}" type="datetimeFigureOut">
              <a:rPr lang="en-US" smtClean="0"/>
              <a:pPr/>
              <a:t>8/30/2024</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43EBEA6E-BC54-45BA-A5B6-7CF3EFFE173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7224" y="785794"/>
            <a:ext cx="7958166" cy="1428759"/>
          </a:xfrm>
          <a:solidFill>
            <a:schemeClr val="accent2"/>
          </a:solidFill>
        </p:spPr>
        <p:txBody>
          <a:bodyPr>
            <a:noAutofit/>
          </a:bodyPr>
          <a:lstStyle/>
          <a:p>
            <a:pPr algn="ctr"/>
            <a:r>
              <a:rPr lang="en-US" sz="4800" dirty="0" smtClean="0">
                <a:solidFill>
                  <a:schemeClr val="tx1"/>
                </a:solidFill>
              </a:rPr>
              <a:t>EMPLOYEE DATA ANALYSIS USING EXCEL </a:t>
            </a:r>
            <a:endParaRPr lang="en-US" sz="4800" dirty="0">
              <a:solidFill>
                <a:schemeClr val="tx1"/>
              </a:solidFill>
            </a:endParaRPr>
          </a:p>
        </p:txBody>
      </p:sp>
      <p:sp>
        <p:nvSpPr>
          <p:cNvPr id="3" name="Subtitle 2"/>
          <p:cNvSpPr>
            <a:spLocks noGrp="1"/>
          </p:cNvSpPr>
          <p:nvPr>
            <p:ph type="subTitle" idx="1"/>
          </p:nvPr>
        </p:nvSpPr>
        <p:spPr>
          <a:xfrm>
            <a:off x="714348" y="2428868"/>
            <a:ext cx="7715304" cy="4214842"/>
          </a:xfrm>
        </p:spPr>
        <p:txBody>
          <a:bodyPr>
            <a:noAutofit/>
          </a:bodyPr>
          <a:lstStyle/>
          <a:p>
            <a:pPr algn="l"/>
            <a:r>
              <a:rPr lang="en-US" sz="2400" dirty="0" smtClean="0">
                <a:solidFill>
                  <a:schemeClr val="tx1"/>
                </a:solidFill>
              </a:rPr>
              <a:t>NAME:DHARANIVENTHAN.M  </a:t>
            </a:r>
          </a:p>
          <a:p>
            <a:pPr algn="l"/>
            <a:r>
              <a:rPr lang="en-US" sz="2400" dirty="0" smtClean="0">
                <a:solidFill>
                  <a:schemeClr val="tx1"/>
                </a:solidFill>
              </a:rPr>
              <a:t>REGISTER NO: 312220590,A5800EF071FF989A3D741B5A90FC618C</a:t>
            </a:r>
          </a:p>
          <a:p>
            <a:pPr algn="l"/>
            <a:r>
              <a:rPr lang="en-US" sz="2400" dirty="0" smtClean="0">
                <a:solidFill>
                  <a:schemeClr val="tx1"/>
                </a:solidFill>
              </a:rPr>
              <a:t>DEPARTMENT:B.COM(ACCOUNTING FINANCE) 3 YEAR</a:t>
            </a:r>
          </a:p>
          <a:p>
            <a:pPr algn="l"/>
            <a:r>
              <a:rPr lang="en-US" sz="2400" dirty="0" smtClean="0">
                <a:solidFill>
                  <a:schemeClr val="tx1"/>
                </a:solidFill>
              </a:rPr>
              <a:t>COLLEGE:VALLAL P.T.LEE.CHENGALVARAYA NAICKER ARTS &amp; SCIENCE COLLEGE</a:t>
            </a:r>
          </a:p>
          <a:p>
            <a:pPr algn="l"/>
            <a:r>
              <a:rPr lang="en-US" sz="2400" dirty="0" smtClean="0">
                <a:solidFill>
                  <a:schemeClr val="tx1"/>
                </a:solidFill>
              </a:rPr>
              <a:t>CHOOLAI,CHENNAI-600112</a:t>
            </a:r>
          </a:p>
          <a:p>
            <a:pPr algn="l"/>
            <a:endParaRPr lang="en-US" sz="2400" dirty="0" smtClean="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428604"/>
            <a:ext cx="7239000" cy="1143000"/>
          </a:xfrm>
          <a:solidFill>
            <a:schemeClr val="accent2"/>
          </a:solidFill>
        </p:spPr>
        <p:txBody>
          <a:bodyPr>
            <a:normAutofit/>
          </a:bodyPr>
          <a:lstStyle/>
          <a:p>
            <a:pPr algn="ctr"/>
            <a:r>
              <a:rPr lang="en-US" sz="7200" b="0" dirty="0" smtClean="0">
                <a:solidFill>
                  <a:schemeClr val="tx1"/>
                </a:solidFill>
              </a:rPr>
              <a:t>PROJECT TITLE </a:t>
            </a:r>
            <a:endParaRPr lang="en-US" sz="7200" b="0" dirty="0">
              <a:solidFill>
                <a:schemeClr val="tx1"/>
              </a:solidFill>
            </a:endParaRPr>
          </a:p>
        </p:txBody>
      </p:sp>
      <p:sp>
        <p:nvSpPr>
          <p:cNvPr id="3" name="Content Placeholder 2"/>
          <p:cNvSpPr>
            <a:spLocks noGrp="1"/>
          </p:cNvSpPr>
          <p:nvPr>
            <p:ph idx="1"/>
          </p:nvPr>
        </p:nvSpPr>
        <p:spPr>
          <a:xfrm>
            <a:off x="714348" y="1714488"/>
            <a:ext cx="7972452" cy="3971939"/>
          </a:xfrm>
        </p:spPr>
        <p:txBody>
          <a:bodyPr>
            <a:noAutofit/>
          </a:bodyPr>
          <a:lstStyle/>
          <a:p>
            <a:pPr algn="ctr">
              <a:buNone/>
            </a:pPr>
            <a:r>
              <a:rPr lang="en-US" sz="6600" b="1" dirty="0" smtClean="0"/>
              <a:t>EMPLOYEES ATTRITION ANALYSIS USING </a:t>
            </a:r>
          </a:p>
          <a:p>
            <a:pPr algn="ctr">
              <a:buNone/>
            </a:pPr>
            <a:r>
              <a:rPr lang="en-US" sz="6600" b="1" dirty="0" smtClean="0"/>
              <a:t>EXCEL DASHBOARD</a:t>
            </a:r>
            <a:endParaRPr lang="en-US" sz="6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1538" y="0"/>
            <a:ext cx="5857916" cy="1143000"/>
          </a:xfrm>
          <a:solidFill>
            <a:schemeClr val="accent2"/>
          </a:solidFill>
        </p:spPr>
        <p:txBody>
          <a:bodyPr>
            <a:noAutofit/>
          </a:bodyPr>
          <a:lstStyle/>
          <a:p>
            <a:pPr algn="ctr"/>
            <a:r>
              <a:rPr lang="en-US" sz="8000" dirty="0" smtClean="0">
                <a:solidFill>
                  <a:schemeClr val="tx1"/>
                </a:solidFill>
              </a:rPr>
              <a:t>agenda</a:t>
            </a:r>
            <a:endParaRPr lang="en-US" sz="8000" dirty="0">
              <a:solidFill>
                <a:schemeClr val="tx1"/>
              </a:solidFill>
            </a:endParaRPr>
          </a:p>
        </p:txBody>
      </p:sp>
      <p:sp>
        <p:nvSpPr>
          <p:cNvPr id="3" name="Content Placeholder 2"/>
          <p:cNvSpPr>
            <a:spLocks noGrp="1"/>
          </p:cNvSpPr>
          <p:nvPr>
            <p:ph idx="1"/>
          </p:nvPr>
        </p:nvSpPr>
        <p:spPr>
          <a:xfrm>
            <a:off x="0" y="1500174"/>
            <a:ext cx="7696200" cy="4955562"/>
          </a:xfrm>
        </p:spPr>
        <p:txBody>
          <a:bodyPr/>
          <a:lstStyle/>
          <a:p>
            <a:pPr>
              <a:buNone/>
            </a:pPr>
            <a:r>
              <a:rPr lang="en-US" b="1" i="1" dirty="0" smtClean="0"/>
              <a:t>1.PROBLEM STATEMENT</a:t>
            </a:r>
          </a:p>
          <a:p>
            <a:pPr>
              <a:buNone/>
            </a:pPr>
            <a:r>
              <a:rPr lang="en-US" b="1" i="1" dirty="0" smtClean="0"/>
              <a:t>2.PROJECT OVERVIEW</a:t>
            </a:r>
          </a:p>
          <a:p>
            <a:pPr>
              <a:buNone/>
            </a:pPr>
            <a:r>
              <a:rPr lang="en-US" b="1" i="1" dirty="0" smtClean="0"/>
              <a:t>3.END USERS </a:t>
            </a:r>
          </a:p>
          <a:p>
            <a:pPr>
              <a:buNone/>
            </a:pPr>
            <a:r>
              <a:rPr lang="en-US" b="1" i="1" dirty="0" smtClean="0"/>
              <a:t>4.OUR SOLUTION AND PROPOSITION</a:t>
            </a:r>
          </a:p>
          <a:p>
            <a:pPr>
              <a:buNone/>
            </a:pPr>
            <a:r>
              <a:rPr lang="en-US" b="1" i="1" dirty="0" smtClean="0"/>
              <a:t>5.DATASET DESCRIPTION</a:t>
            </a:r>
          </a:p>
          <a:p>
            <a:pPr>
              <a:buNone/>
            </a:pPr>
            <a:r>
              <a:rPr lang="en-US" b="1" i="1" dirty="0" smtClean="0"/>
              <a:t>6.MODELLING APPROACH</a:t>
            </a:r>
          </a:p>
          <a:p>
            <a:pPr>
              <a:buNone/>
            </a:pPr>
            <a:r>
              <a:rPr lang="en-US" b="1" i="1" dirty="0" smtClean="0"/>
              <a:t>7.RESULTS AND DISCUSSION</a:t>
            </a:r>
          </a:p>
          <a:p>
            <a:pPr>
              <a:buNone/>
            </a:pPr>
            <a:r>
              <a:rPr lang="en-US" b="1" i="1" dirty="0" smtClean="0"/>
              <a:t>8.CONCLUSION</a:t>
            </a:r>
            <a:endParaRPr lang="en-US" b="1"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7239000" cy="928694"/>
          </a:xfrm>
          <a:solidFill>
            <a:schemeClr val="accent2"/>
          </a:solidFill>
        </p:spPr>
        <p:txBody>
          <a:bodyPr>
            <a:noAutofit/>
          </a:bodyPr>
          <a:lstStyle/>
          <a:p>
            <a:r>
              <a:rPr lang="en-US" sz="5400" dirty="0" smtClean="0">
                <a:solidFill>
                  <a:schemeClr val="tx1"/>
                </a:solidFill>
              </a:rPr>
              <a:t>Problem statement</a:t>
            </a:r>
            <a:endParaRPr lang="en-US" sz="5400" dirty="0">
              <a:solidFill>
                <a:schemeClr val="tx1"/>
              </a:solidFill>
            </a:endParaRPr>
          </a:p>
        </p:txBody>
      </p:sp>
      <p:sp>
        <p:nvSpPr>
          <p:cNvPr id="3" name="Content Placeholder 2"/>
          <p:cNvSpPr>
            <a:spLocks noGrp="1"/>
          </p:cNvSpPr>
          <p:nvPr>
            <p:ph idx="1"/>
          </p:nvPr>
        </p:nvSpPr>
        <p:spPr>
          <a:xfrm>
            <a:off x="142844" y="1214422"/>
            <a:ext cx="7858180" cy="5489262"/>
          </a:xfrm>
        </p:spPr>
        <p:txBody>
          <a:bodyPr>
            <a:normAutofit/>
          </a:bodyPr>
          <a:lstStyle/>
          <a:p>
            <a:r>
              <a:rPr lang="en-US" dirty="0" smtClean="0"/>
              <a:t>Analyze the dataset to find out factors influencing Employee Attrition in the company</a:t>
            </a:r>
          </a:p>
          <a:p>
            <a:r>
              <a:rPr lang="en-US" dirty="0" smtClean="0"/>
              <a:t>Is there a relationship between attrition monthly income and monthly rate?</a:t>
            </a:r>
          </a:p>
          <a:p>
            <a:r>
              <a:rPr lang="en-US" dirty="0" smtClean="0"/>
              <a:t>How do factors like job satisfaction, marital status, gender, job role department, work-life balance, etc affects attrition?</a:t>
            </a:r>
          </a:p>
          <a:p>
            <a:r>
              <a:rPr lang="en-US" dirty="0" smtClean="0"/>
              <a:t>From the departure of team members to the strategic retention initiatives, join us on a journey through the data-driven narrative that empowers organizations not only to understand but master the art of retaining top talent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a:bodyPr>
          <a:lstStyle/>
          <a:p>
            <a:r>
              <a:rPr lang="en-US" sz="6000" dirty="0" smtClean="0">
                <a:solidFill>
                  <a:schemeClr val="tx1"/>
                </a:solidFill>
              </a:rPr>
              <a:t>Project overview</a:t>
            </a:r>
            <a:endParaRPr lang="en-US" sz="6000" dirty="0">
              <a:solidFill>
                <a:schemeClr val="tx1"/>
              </a:solidFill>
            </a:endParaRPr>
          </a:p>
        </p:txBody>
      </p:sp>
      <p:sp>
        <p:nvSpPr>
          <p:cNvPr id="3" name="Content Placeholder 2"/>
          <p:cNvSpPr>
            <a:spLocks noGrp="1"/>
          </p:cNvSpPr>
          <p:nvPr>
            <p:ph idx="1"/>
          </p:nvPr>
        </p:nvSpPr>
        <p:spPr/>
        <p:txBody>
          <a:bodyPr>
            <a:noAutofit/>
          </a:bodyPr>
          <a:lstStyle/>
          <a:p>
            <a:r>
              <a:rPr lang="en-US" sz="2800" dirty="0" smtClean="0"/>
              <a:t>This </a:t>
            </a:r>
            <a:r>
              <a:rPr lang="en-US" sz="2800" b="1" dirty="0" smtClean="0"/>
              <a:t>project</a:t>
            </a:r>
            <a:r>
              <a:rPr lang="en-US" sz="2800" dirty="0" smtClean="0"/>
              <a:t> involves </a:t>
            </a:r>
            <a:r>
              <a:rPr lang="en-US" sz="2800" b="1" dirty="0" smtClean="0"/>
              <a:t>using Excel</a:t>
            </a:r>
            <a:r>
              <a:rPr lang="en-US" sz="2800" dirty="0" smtClean="0"/>
              <a:t> to </a:t>
            </a:r>
            <a:r>
              <a:rPr lang="en-US" sz="2800" b="1" dirty="0" smtClean="0"/>
              <a:t>analyze employee attrition</a:t>
            </a:r>
            <a:r>
              <a:rPr lang="en-US" sz="2800" dirty="0" smtClean="0"/>
              <a:t> data and create a dynamic </a:t>
            </a:r>
            <a:r>
              <a:rPr lang="en-US" sz="2800" b="1" dirty="0" smtClean="0"/>
              <a:t>dashboard</a:t>
            </a:r>
            <a:r>
              <a:rPr lang="en-US" sz="2800" dirty="0" smtClean="0"/>
              <a:t> that provides insights into the factors contributing to employee turnover. The aim is to help HR and management identify trends, understand causes, and develop strategies to reduce attrition rates.</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Autofit/>
          </a:bodyPr>
          <a:lstStyle/>
          <a:p>
            <a:pPr algn="ctr"/>
            <a:r>
              <a:rPr lang="en-US" sz="4400" dirty="0" smtClean="0">
                <a:solidFill>
                  <a:schemeClr val="tx1"/>
                </a:solidFill>
              </a:rPr>
              <a:t>WHO ARE THE End users?</a:t>
            </a:r>
            <a:endParaRPr lang="en-US" sz="4400" dirty="0">
              <a:solidFill>
                <a:schemeClr val="tx1"/>
              </a:solidFill>
            </a:endParaRPr>
          </a:p>
        </p:txBody>
      </p:sp>
      <p:sp>
        <p:nvSpPr>
          <p:cNvPr id="3" name="Content Placeholder 2"/>
          <p:cNvSpPr>
            <a:spLocks noGrp="1"/>
          </p:cNvSpPr>
          <p:nvPr>
            <p:ph idx="1"/>
          </p:nvPr>
        </p:nvSpPr>
        <p:spPr>
          <a:xfrm>
            <a:off x="0" y="1571612"/>
            <a:ext cx="8072462" cy="5286388"/>
          </a:xfrm>
        </p:spPr>
        <p:txBody>
          <a:bodyPr>
            <a:noAutofit/>
          </a:bodyPr>
          <a:lstStyle/>
          <a:p>
            <a:r>
              <a:rPr lang="en-US" sz="1800" dirty="0" smtClean="0"/>
              <a:t>Employee attrition analysis using an Excel dashboard refers to the process of tracking and analyzing employee turnover data to identify trends, patterns, and insights that can help organizations understand why employees </a:t>
            </a:r>
            <a:r>
              <a:rPr lang="en-US" sz="1800" dirty="0" err="1" smtClean="0"/>
              <a:t>leave.End</a:t>
            </a:r>
            <a:r>
              <a:rPr lang="en-US" sz="1800" dirty="0" smtClean="0"/>
              <a:t>-users, in this context, are the people who will be using the Excel dashboard to analyze and interpret the data. They may include:1. HR professionals2. Talent management teams3. Business leaders4. Operations managers5. </a:t>
            </a:r>
            <a:r>
              <a:rPr lang="en-US" sz="1800" dirty="0" err="1" smtClean="0"/>
              <a:t>AnalystsThe</a:t>
            </a:r>
            <a:r>
              <a:rPr lang="en-US" sz="1800" dirty="0" smtClean="0"/>
              <a:t> Excel dashboard provides an interactive and visual representation of the data, enabling end-users to:1. Explore attrition rates by department, location, job role, or other relevant factors2. Identify high-risk areas or teams with elevated turnover rates3. Analyze the reasons for leaving (e.g., resignation, termination, retirement)4. Track changes in attrition rates over time5. Compare actual vs. predicted attrition rates6. Drill down into detailed data to investigate specific </a:t>
            </a:r>
            <a:r>
              <a:rPr lang="en-US" sz="1800" dirty="0" err="1" smtClean="0"/>
              <a:t>casesBy</a:t>
            </a:r>
            <a:r>
              <a:rPr lang="en-US" sz="1800" dirty="0" smtClean="0"/>
              <a:t> using an Excel dashboard, end-users can gain a deeper understanding of employee attrition, make data-driven decisions, and develop strategies to improve retention and reduce turnover.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142852"/>
            <a:ext cx="7410512" cy="1428760"/>
          </a:xfrm>
          <a:solidFill>
            <a:schemeClr val="accent2"/>
          </a:solidFill>
        </p:spPr>
        <p:txBody>
          <a:bodyPr>
            <a:normAutofit fontScale="90000"/>
          </a:bodyPr>
          <a:lstStyle/>
          <a:p>
            <a:pPr algn="ctr"/>
            <a:r>
              <a:rPr lang="en-US" sz="3100" i="1" dirty="0" smtClean="0">
                <a:solidFill>
                  <a:schemeClr val="tx1"/>
                </a:solidFill>
              </a:rPr>
              <a:t>OUR SOLUTION AND ITS VALUE  PROPOSITION</a:t>
            </a:r>
            <a:r>
              <a:rPr lang="en-US" i="1" dirty="0" smtClean="0">
                <a:solidFill>
                  <a:schemeClr val="tx1"/>
                </a:solidFill>
              </a:rPr>
              <a:t/>
            </a:r>
            <a:br>
              <a:rPr lang="en-US" i="1"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a:xfrm>
            <a:off x="142844" y="1609416"/>
            <a:ext cx="7786742" cy="4846320"/>
          </a:xfrm>
        </p:spPr>
        <p:txBody>
          <a:bodyPr>
            <a:normAutofit fontScale="70000" lnSpcReduction="20000"/>
          </a:bodyPr>
          <a:lstStyle/>
          <a:p>
            <a:r>
              <a:rPr lang="en-US" dirty="0" smtClean="0"/>
              <a:t>Solution:</a:t>
            </a:r>
          </a:p>
          <a:p>
            <a:r>
              <a:rPr lang="en-US" dirty="0" smtClean="0"/>
              <a:t>1. Data Visualization: Interactive charts, graphs, and </a:t>
            </a:r>
            <a:r>
              <a:rPr lang="en-US" dirty="0" err="1" smtClean="0"/>
              <a:t>heatmaps</a:t>
            </a:r>
            <a:r>
              <a:rPr lang="en-US" dirty="0" smtClean="0"/>
              <a:t> to illustrate attrition rates, trends, and patterns.2. Drill-Down Capability: Users can explore detailed data by department, location, job role, and other relevant factors.3. Predictive Analytics: Built-in predictive models to forecast future attrition rates and identify high-risk areas.4. Root Cause Analysis: Tools to investigate and understand the underlying reasons for employee turnover.5. Benchmarking: Ability to compare attrition rates with industry averages and internal benchmarks.6. Actionable Insights: Recommendations for retention strategies and initiatives based on data analysis.</a:t>
            </a:r>
          </a:p>
          <a:p>
            <a:r>
              <a:rPr lang="en-US" dirty="0" smtClean="0"/>
              <a:t>Proposition:</a:t>
            </a:r>
          </a:p>
          <a:p>
            <a:r>
              <a:rPr lang="en-US" dirty="0" smtClean="0"/>
              <a:t>1. Reduce Attrition Rates: By identifying and addressing the root causes of turnover.2. Improve Retention Strategies: With data-driven insights to inform targeted initiatives.3. Enhance Decision-Making: Through accurate and timely analysis of employee turnover trends.4. Increase Efficiency: By streamlining attrition analysis and reporting processes.5. Boost Employee Satisfaction: By understanding and addressing underlying issues driving turnover.</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a:bodyPr>
          <a:lstStyle/>
          <a:p>
            <a:pPr algn="ctr"/>
            <a:r>
              <a:rPr lang="en-US" sz="4800" dirty="0" smtClean="0">
                <a:solidFill>
                  <a:schemeClr val="tx1"/>
                </a:solidFill>
              </a:rPr>
              <a:t>Dataset description</a:t>
            </a:r>
            <a:endParaRPr lang="en-US" sz="4800" dirty="0">
              <a:solidFill>
                <a:schemeClr val="tx1"/>
              </a:solidFill>
            </a:endParaRPr>
          </a:p>
        </p:txBody>
      </p:sp>
      <p:sp>
        <p:nvSpPr>
          <p:cNvPr id="3" name="Content Placeholder 2"/>
          <p:cNvSpPr>
            <a:spLocks noGrp="1"/>
          </p:cNvSpPr>
          <p:nvPr>
            <p:ph idx="1"/>
          </p:nvPr>
        </p:nvSpPr>
        <p:spPr/>
        <p:txBody>
          <a:bodyPr>
            <a:normAutofit lnSpcReduction="10000"/>
          </a:bodyPr>
          <a:lstStyle/>
          <a:p>
            <a:r>
              <a:rPr lang="en-US" b="1" dirty="0" smtClean="0"/>
              <a:t>Dataset Description: Employee Attrition Analysis</a:t>
            </a:r>
          </a:p>
          <a:p>
            <a:r>
              <a:rPr lang="en-US" b="1" dirty="0" smtClean="0"/>
              <a:t>Title</a:t>
            </a:r>
            <a:r>
              <a:rPr lang="en-US" dirty="0" smtClean="0"/>
              <a:t>: Employee Attrition Dataset</a:t>
            </a:r>
          </a:p>
          <a:p>
            <a:r>
              <a:rPr lang="en-US" b="1" dirty="0" smtClean="0"/>
              <a:t>Description</a:t>
            </a:r>
            <a:r>
              <a:rPr lang="en-US" dirty="0" smtClean="0"/>
              <a:t>: This dataset contains information about employees and their employment status, including whether they have left the company (attrition) or are still employed. The data is used to analyze factors influencing employee turnover, identify patterns and trends, and develop strategies to improve employee retention.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85918" y="500042"/>
            <a:ext cx="4429156" cy="707886"/>
          </a:xfrm>
          <a:prstGeom prst="rect">
            <a:avLst/>
          </a:prstGeom>
          <a:solidFill>
            <a:schemeClr val="accent2"/>
          </a:solidFill>
        </p:spPr>
        <p:txBody>
          <a:bodyPr wrap="square" rtlCol="0">
            <a:spAutoFit/>
          </a:bodyPr>
          <a:lstStyle/>
          <a:p>
            <a:pPr algn="ctr"/>
            <a:r>
              <a:rPr lang="en-US" sz="4000" b="1" dirty="0" smtClean="0"/>
              <a:t>MODELLING</a:t>
            </a:r>
            <a:endParaRPr lang="en-US" sz="4000" b="1" dirty="0"/>
          </a:p>
        </p:txBody>
      </p:sp>
      <p:graphicFrame>
        <p:nvGraphicFramePr>
          <p:cNvPr id="3" name="Table 2"/>
          <p:cNvGraphicFramePr>
            <a:graphicFrameLocks noGrp="1"/>
          </p:cNvGraphicFramePr>
          <p:nvPr/>
        </p:nvGraphicFramePr>
        <p:xfrm>
          <a:off x="642911" y="1357300"/>
          <a:ext cx="7143800" cy="5133327"/>
        </p:xfrm>
        <a:graphic>
          <a:graphicData uri="http://schemas.openxmlformats.org/drawingml/2006/table">
            <a:tbl>
              <a:tblPr/>
              <a:tblGrid>
                <a:gridCol w="661654"/>
                <a:gridCol w="661654"/>
                <a:gridCol w="1106203"/>
                <a:gridCol w="951128"/>
                <a:gridCol w="730576"/>
                <a:gridCol w="744361"/>
                <a:gridCol w="1144112"/>
                <a:gridCol w="1144112"/>
              </a:tblGrid>
              <a:tr h="334061">
                <a:tc gridSpan="8">
                  <a:txBody>
                    <a:bodyPr/>
                    <a:lstStyle/>
                    <a:p>
                      <a:pPr algn="ctr" fontAlgn="ctr"/>
                      <a:r>
                        <a:rPr lang="en-US" sz="4000" b="0" i="0" u="none" strike="noStrike" dirty="0">
                          <a:solidFill>
                            <a:srgbClr val="000000"/>
                          </a:solidFill>
                          <a:latin typeface="Calibri"/>
                        </a:rPr>
                        <a:t>Attrition Calculation</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47979">
                <a:tc>
                  <a:txBody>
                    <a:bodyPr/>
                    <a:lstStyle/>
                    <a:p>
                      <a:pPr algn="ctr" fontAlgn="b"/>
                      <a:r>
                        <a:rPr lang="en-US" sz="1000" b="1" i="0" u="none" strike="noStrike" dirty="0">
                          <a:solidFill>
                            <a:srgbClr val="7030A0"/>
                          </a:solidFill>
                          <a:latin typeface="Times New Roman"/>
                        </a:rPr>
                        <a:t>s.no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rgbClr val="7030A0"/>
                          </a:solidFill>
                          <a:latin typeface="Times New Roman"/>
                        </a:rPr>
                        <a:t>Month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rgbClr val="7030A0"/>
                          </a:solidFill>
                          <a:latin typeface="Times New Roman"/>
                        </a:rPr>
                        <a:t>Opening  Count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a:solidFill>
                            <a:srgbClr val="7030A0"/>
                          </a:solidFill>
                          <a:latin typeface="Times New Roman"/>
                        </a:rPr>
                        <a:t>New Joiners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rgbClr val="7030A0"/>
                          </a:solidFill>
                          <a:latin typeface="Times New Roman"/>
                        </a:rPr>
                        <a:t>Exit </a:t>
                      </a:r>
                      <a:r>
                        <a:rPr lang="en-US" sz="1000" b="1" i="0" u="none" strike="noStrike" dirty="0" err="1">
                          <a:solidFill>
                            <a:srgbClr val="7030A0"/>
                          </a:solidFill>
                          <a:latin typeface="Times New Roman"/>
                        </a:rPr>
                        <a:t>Emp</a:t>
                      </a:r>
                      <a:endParaRPr lang="en-US" sz="1000" b="1" i="0" u="none" strike="noStrike" dirty="0">
                        <a:solidFill>
                          <a:srgbClr val="7030A0"/>
                        </a:solidFill>
                        <a:latin typeface="Times New Roman"/>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rgbClr val="7030A0"/>
                          </a:solidFill>
                          <a:latin typeface="Times New Roman"/>
                        </a:rPr>
                        <a:t>Balance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a:solidFill>
                            <a:srgbClr val="7030A0"/>
                          </a:solidFill>
                          <a:latin typeface="Times New Roman"/>
                        </a:rPr>
                        <a:t>Avg.no.of emp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a:solidFill>
                            <a:srgbClr val="7030A0"/>
                          </a:solidFill>
                          <a:latin typeface="Times New Roman"/>
                        </a:rPr>
                        <a:t>Attrition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Jan-21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Feb-21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181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175.5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Mar-21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181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182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Apr-21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186.5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May-21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Jun-21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205.5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Jul-21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217.5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Aug-21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228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Sep-21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234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234.5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Oct-21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234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241.5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a:solidFill>
                            <a:srgbClr val="000000"/>
                          </a:solidFill>
                          <a:latin typeface="Times New Roman"/>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Nov-21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253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7979">
                <a:tc>
                  <a:txBody>
                    <a:bodyPr/>
                    <a:lstStyle/>
                    <a:p>
                      <a:pPr algn="ctr" fontAlgn="b"/>
                      <a:r>
                        <a:rPr lang="en-US" sz="1000" b="0" i="0" u="none" strike="noStrike" dirty="0">
                          <a:solidFill>
                            <a:srgbClr val="000000"/>
                          </a:solidFill>
                          <a:latin typeface="Times New Roman"/>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Dec-21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257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latin typeface="Times New Roman"/>
                        </a:rPr>
                        <a:t>258.5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Times New Roman"/>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43174" y="428604"/>
            <a:ext cx="3016453" cy="646331"/>
          </a:xfrm>
          <a:prstGeom prst="rect">
            <a:avLst/>
          </a:prstGeom>
          <a:solidFill>
            <a:schemeClr val="accent2"/>
          </a:solidFill>
        </p:spPr>
        <p:txBody>
          <a:bodyPr wrap="square" rtlCol="0">
            <a:spAutoFit/>
          </a:bodyPr>
          <a:lstStyle/>
          <a:p>
            <a:pPr algn="ctr"/>
            <a:r>
              <a:rPr lang="en-US" sz="3600" b="1" dirty="0" smtClean="0"/>
              <a:t>RESULTS</a:t>
            </a:r>
            <a:endParaRPr lang="en-US" sz="3600" b="1" dirty="0"/>
          </a:p>
        </p:txBody>
      </p:sp>
      <p:graphicFrame>
        <p:nvGraphicFramePr>
          <p:cNvPr id="5" name="Chart 4"/>
          <p:cNvGraphicFramePr/>
          <p:nvPr/>
        </p:nvGraphicFramePr>
        <p:xfrm>
          <a:off x="571472" y="1428736"/>
          <a:ext cx="7000924" cy="4857784"/>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488" y="285728"/>
            <a:ext cx="2857520" cy="584775"/>
          </a:xfrm>
          <a:prstGeom prst="rect">
            <a:avLst/>
          </a:prstGeom>
          <a:solidFill>
            <a:schemeClr val="accent2"/>
          </a:solidFill>
        </p:spPr>
        <p:txBody>
          <a:bodyPr wrap="square" rtlCol="0">
            <a:spAutoFit/>
          </a:bodyPr>
          <a:lstStyle/>
          <a:p>
            <a:r>
              <a:rPr lang="en-US" sz="3200" b="1" dirty="0" smtClean="0"/>
              <a:t>CONCLUSION</a:t>
            </a:r>
            <a:endParaRPr lang="en-US" sz="3200" b="1" dirty="0"/>
          </a:p>
        </p:txBody>
      </p:sp>
      <p:graphicFrame>
        <p:nvGraphicFramePr>
          <p:cNvPr id="4" name="Chart 3"/>
          <p:cNvGraphicFramePr/>
          <p:nvPr/>
        </p:nvGraphicFramePr>
        <p:xfrm>
          <a:off x="357158" y="1142984"/>
          <a:ext cx="7500990" cy="478634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71678"/>
            <a:ext cx="7242048" cy="1643074"/>
          </a:xfrm>
          <a:solidFill>
            <a:schemeClr val="accent2"/>
          </a:solidFill>
        </p:spPr>
        <p:txBody>
          <a:bodyPr>
            <a:normAutofit/>
          </a:bodyPr>
          <a:lstStyle/>
          <a:p>
            <a:pPr algn="ctr"/>
            <a:r>
              <a:rPr lang="en-US" sz="8000" dirty="0" smtClean="0">
                <a:solidFill>
                  <a:schemeClr val="tx1"/>
                </a:solidFill>
              </a:rPr>
              <a:t>THANK YOU</a:t>
            </a:r>
            <a:endParaRPr lang="en-US" sz="8000" dirty="0">
              <a:solidFill>
                <a:schemeClr val="tx1"/>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322</TotalTime>
  <Words>694</Words>
  <Application>Microsoft Office PowerPoint</Application>
  <PresentationFormat>On-screen Show (4:3)</PresentationFormat>
  <Paragraphs>147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Opulent</vt:lpstr>
      <vt:lpstr>EMPLOYEE DATA ANALYSIS USING EXCEL </vt:lpstr>
      <vt:lpstr>PROJECT TITLE </vt:lpstr>
      <vt:lpstr>agenda</vt:lpstr>
      <vt:lpstr>Problem statement</vt:lpstr>
      <vt:lpstr>Project overview</vt:lpstr>
      <vt:lpstr>WHO ARE THE End users?</vt:lpstr>
      <vt:lpstr>OUR SOLUTION AND ITS VALUE  PROPOSITION </vt:lpstr>
      <vt:lpstr>Dataset description</vt:lpstr>
      <vt:lpstr>Slide 9</vt:lpstr>
      <vt:lpstr>Slide 10</vt:lpstr>
      <vt:lpstr>Slide 11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DATA ANALYSIS USING EXCEL</dc:title>
  <dc:creator>P.T.LEE CNASC</dc:creator>
  <cp:lastModifiedBy>P.T.LEE CNASC</cp:lastModifiedBy>
  <cp:revision>32</cp:revision>
  <dcterms:created xsi:type="dcterms:W3CDTF">2024-08-27T09:30:09Z</dcterms:created>
  <dcterms:modified xsi:type="dcterms:W3CDTF">2024-08-30T10:55:02Z</dcterms:modified>
</cp:coreProperties>
</file>